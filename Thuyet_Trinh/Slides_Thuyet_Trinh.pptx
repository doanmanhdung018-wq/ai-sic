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300" b="1">
                <a:solidFill>
                  <a:srgbClr val="38BDF8"/>
                </a:solidFill>
              </a:defRPr>
            </a:pPr>
            <a:r>
              <a:t>SAMSUNG INNOVATION CAMPUS (AI SIC) — BÁO CÁO CAPSTONE</a:t>
            </a:r>
          </a:p>
          <a:p>
            <a:pPr algn="ctr">
              <a:spcAft>
                <a:spcPts val="1600"/>
              </a:spcAft>
              <a:defRPr sz="3600" b="1">
                <a:solidFill>
                  <a:srgbClr val="F8FAFC"/>
                </a:solidFill>
              </a:defRPr>
            </a:pPr>
            <a:r>
              <a:t>HỆ THỐNG GỢI Ý PHỐI ĐỒ</a:t>
            </a:r>
            <a:br/>
            <a:r>
              <a:t>THỜI TRANG THÔNG MINH</a:t>
            </a:r>
          </a:p>
          <a:p>
            <a:pPr algn="ctr">
              <a:spcAft>
                <a:spcPts val="3000"/>
              </a:spcAft>
              <a:defRPr sz="1500">
                <a:solidFill>
                  <a:srgbClr val="94A3B8"/>
                </a:solidFill>
              </a:defRPr>
            </a:pPr>
            <a:r>
              <a:t>Ứng dụng Deep Learning (ResNet50) &amp; Thuật toán Phối đồ Bù trừ Đa mục tiêu</a:t>
            </a:r>
          </a:p>
          <a:p>
            <a:pPr algn="ctr">
              <a:defRPr sz="1300" b="1">
                <a:solidFill>
                  <a:srgbClr val="10B981"/>
                </a:solidFill>
              </a:defRPr>
            </a:pPr>
            <a:r>
              <a:t>Học viên: Đoàn Mạnh Dũng   |   Thời lượng báo cáo: 10 Phút   |   Năm học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02/12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1. Đặt Vấn Đề &amp; Nhu Cầu Thực Tiễn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Tại sao bài toán Gợi ý Phối đồ Bù trừ lại quan trọng và cấp thiết?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[USER PAIN] Nỗi đau Người dùng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Người tiêu dùng mất trung bình 15-30 phút mỗi sáng cho câu hỏi 'Hôm nay mặc gì?'.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Tủ đồ có nhiều món nhưng thiếu tư duy phối đồ (Styling), dẫn đến lãng phí thời gian và trang phục.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Nhu cầu cá nhân hóa cao theo thời tiết, hoàn cảnh đi làm (Formal) hay dạo phố (Casual).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[MARKET GAP] Hạn chế của TMĐT Hiện nay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Chỉ gợi ý các món tương tự (Item-to-Item): Mua áo thun thì gợi ý thêm... 10 chiếc áo thun khác!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Thiếu hoàn toàn khả năng phối hợp thành bộ Outfit hoàn chỉnh (Áo + Quần + Giày + Phụ kiện).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Trải nghiệm mua sắm bị đứt đoạn, giảm tỷ lệ chốt đơn và doanh thu trung bình mỗi giỏ hàng.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[AI SOLUTION] Cơ hội &amp; Giải pháp AI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Ứng dụng Thị giác Máy tính (Computer Vision) để đọc hiểu kiểu dáng, form mẫu, màu sắc.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Xây dựng không gian biểu diễn ngữ nghĩa 2048 chiều bằng Mạng nơ-ron tích chập ResNet50.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Thiết kế thuật toán bù trừ danh mục (Complementary Pairing) cho kết quả chuẩn gu tức thì.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03/12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2. Mục Tiêu &amp; Chuẩn Đồ Án Samsung Innovation Campus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Bám sát tuyệt đối 3 Stage đào tạo chuẩn của chương trình AI SIC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[STAGE 1] Stage 1: Làm chủ Dữ liệu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Thu thập và làm sạch 1,200 sản phẩm thời trang thật từ Kaggle Myntra Dataset.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Kiểm tra tính toàn vẹn của tệp ảnh, xử lý tệp hỏng, lọc thuộc tính trống.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Chuẩn hóa dữ liệu ảnh đầu vào theo phân phối ImageNet (Resize 224x224, Z-Score).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Xây dựng pipeline PyTorch Dataset &amp; DataLoader tối ưu.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[STAGE 2] Stage 2: Huấn luyện &amp; Đánh giá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Ứng dụng kỹ thuật Transfer Learning với mô hình ResNet50 trích xuất đặc trưng sâu.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Loại bỏ tầng phân loại FC, khai thác lớp Global Average Pooling (GAP) 2048 chiều.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Chuẩn hóa L2-Norm đưa vector về mặt cầu đơn vị và đo khoảng cách góc Cosine.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Xây dựng Baseline Color Histogram (512D) để đo lường định lượng sự vượt trội.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[STAGE 3] Stage 3: Đóng gói Sản phẩm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Phát triển Động cơ Phối đồ Bù trừ (Complementary Category Engine) đa mục tiêu.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Xây dựng Giao diện Web tương tác hoàn chỉnh (HTML/CSS/JS + Flask API &amp; Streamlit).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Đạt độ trễ suy luận siêu tốc (&lt; 30ms), sẵn sàng tích hợp môi trường thực tế.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Bộ tài liệu thuyết trình, mã nguồn và báo cáo đồng bộ 100%.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04/12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3. Dữ Liệu &amp; Pipeline Tiền Xử Lý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Nguồn dữ liệu thực tế và quy trình chuẩn hóa ảnh nghiêm ngặt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[DATASET] Tập Dữ liệu Kaggle Fashion Product Images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Quy mô: 1,200 sản phẩm thương mại thật với ảnh độ phân giải cao.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Metadata: 9 trường thông tin chi tiết (id, gender, masterCategory, subCategory, articleType, baseColour, season, year, usage).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Độ phân bổ giới tính cân bằng: Men (48.3%), Women (45.2%), Unisex (6.5%).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Danh mục đa dạng: Topwear (Áo), Bottomwear (Quần), Shoes (Giày), Bags (Túi), Watches (Đồng hồ).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[PREPROCESSING] Quy trình Chuẩn hóa 4 Bước (preprocess.py)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1. Lọc dữ liệu: Kiểm tra tệp ảnh tồn tại trên đĩa, loại bỏ ảnh lỗi hoặc kích thước 0 byte.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2. Đổi kích thước: Resize song tuyến tính (Bilinear) về kích thước chuẩn 224 x 224 điểm ảnh.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3. Chuyển đổi Tensor: Chuyển mảng điểm ảnh RGB [0, 255] sang Tensor PyTorch miền [0.0, 1.0].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4. Chuẩn hóa Z-Score ImageNet: Mean = [0.485, 0.456, 0.406], Std = [0.229, 0.224, 0.225].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-&gt; Đảm bảo phân phối đầu vào khớp hoàn hảo với không gian tối ưu của ResNet50.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05/12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4. Kiến Trúc Kỹ Thuật Hệ Thống Tổng Thể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Luồng dữ liệu khép kín từ ảnh đầu vào đến gợi ý phối đồ thời gian thực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[OFFLINE] Giai đoạn 1: Offline Indexing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Tập ảnh 1,200 sản phẩm được đưa qua DataLoader với Batch size = 32.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Mô hình ResNet50 trích xuất vector đặc trưng 2048 chiều cho từng sản phẩm.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Chuẩn hóa L2-Norm và lưu thành ma trận (1200 x 2048) trong tệp models/embeddings.pkl.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Baseline Color HSV trích xuất ma trận (1200 x 512) để đối chứng.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[ONLINE] Giai đoạn 2: Online Inference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Người dùng tải ảnh lên hoặc chọn sản phẩm mẫu trên Giao diện Web.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Bộ trích xuất ResNet50 tạo vector truy vấn q chỉ trong 25ms.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Tính tích vô hướng Dot Product giữa q và toàn bộ 1,200 vector trong kho.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Thời gian tính toán Cosine Similarity cực nhanh (&lt; 1ms trên CPU).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[MATCHING] Giai đoạn 3: Pairing Engine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Nhận diện danh mục gốc (ví dụ: Topwear -&gt; Áo sơ mi nam).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Áp dụng ma trận luật bù trừ: Tìm Bottomwear, Shoes, Accessories tương ứng.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Lọc giới tính (Men / Unisex) và cộng thưởng điểm đồng điệu phong cách (+0.15).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Xếp hạng Top-K ứng viên và hiển thị bộ Outfit hoàn chỉnh trên Web.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06/12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5. Trái Tim Mô Hình: Kiến Trúc ResNet50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Tại sao ResNet50 là tiêu chuẩn vàng trong nhận diện đặc trưng thị giác?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[THEORY] Vấn đề Triệt tiêu Đạo hàm (Vanishing Gradient)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Khi mạng nơ-ron sâu hơn 20 tầng, đạo hàm lan truyền ngược theo quy tắc chuỗi bị nhân dồn các số nhỏ hơn 1.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Tín hiệu đạo hàm suy giảm về xấp xỉ 0 khi về tới các tầng đầu tiên, khiến mô hình dừng học.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Hiện tượng suy thoái (Degradation): Mạng sâu hơn có cả Training Error và Test Error cao hơn mạng nông!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[BREAKTHROUGH] Đột phá Toán học: Skip Connection (+1 Gradient)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Khối Thặng dư (Residual Block) thiết lập liên kết tắt: y = F(x) + x.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Đạo hàm lan truyền ngược: dL/dx = (dL/dy) * (dF/dx + 1) = (dL/dy)*(dF/dx) + (dL/dy).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-&gt; Ý nghĩa số +1: Tín hiệu dL/dy luôn có đường cao tốc truyền thẳng về các tầng trước mà không bao giờ bị triệt tiêu!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Cấu trúc Bottleneck 3 tầng (1x1 -&gt; 3x3 -&gt; 1x1) nén và phục hồi số kênh, tiết kiệm 75% chi phí tính toán.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Lớp Global Average Pooling (GAP) nén 7x7x2048 thành vector 2048 chiều không tham số, chống Overfitting triệt để.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07/12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6. Độ Đo Tương Đồng &amp; Không Gian Biểu Diễn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Toán học của khoảng cách góc và phép chiếu lên mặt cầu đơn vị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[L2-NORM] Chuẩn Hóa L2-Norm (Unit Hypersphere)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Công thức: v_hat = v / ||v||_2 với ||v||_2 = sqrt(sum(v_i^2)).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Mọi vector 2048 chiều đều được chiếu lên mặt cầu đơn vị có bán kính r = 1.0.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Ý nghĩa thị giác: Triệt tiêu hoàn toàn sự chênh lệch độ sáng/tối khi chụp ảnh.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Hai bức ảnh chụp cùng một chiếc áo ở điều kiện sáng khác nhau sẽ có cùng vector đơn vị.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[COSINE METRIC] Cosine Similarity vs Khoảng cách Euclid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Công thức: Cosine(u, v) = (u . v) / (||u|| ||v||) = u . v (khi đã chuẩn hóa L2).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Khoảng giá trị [-1.0, 1.0]: +1.0 là trùng khớp hoàn toàn, 0.0 là trực giao không liên quan.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Vượt qua 'Bẫy số chiều' (Curse of Dimensionality):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Trong không gian 2048 chiều, khoảng cách Euclid giữa mọi cặp điểm đều tiệm cận bằng nhau.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Góc phương vị Cosine phản ánh chính xác tỷ lệ đóng góp của các đặc trưng kiểu dáng và phong cách.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08/12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7. Động Cơ Phối Đồ Bù Trừ Thông Minh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Khác biệt cốt lõi giữa Gợi ý tương tự và Gợi ý phối hợp thành set đồ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[PAIRING RULES] Ma Trận Luật Phối Đồ Bù Trừ (Pairing Rules)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Quy tắc 1: Đầu vào là Áo (Topwear/Dress) -&gt; Tự động tìm Quần (Bottomwear) + Giày (Shoes) + Túi/Đồng hồ.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Quy tắc 2: Đầu vào là Quần (Bottomwear) -&gt; Tự động tìm Áo (Topwear) + Giày (Shoes) + Phụ kiện.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Quy tắc 3: Đầu vào là Giày dép (Shoes) -&gt; Tự động phối ngược lại Áo + Quần + Phụ kiện phù hợp.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-&gt; Giải quyết triệt để vấn đề gợi ý trùng danh mục gây khó chịu cho người dùng.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[SCORING ENGINE] Hàm Mục Tiêu Phối Hợp Đa Thành Phần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Điểm phối hợp cuối cùng = Cosine Similarity + Điểm thưởng Phong cách (Style Bonus).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Lọc giới tính nghiêm ngặt: Nam chỉ phối với đồ Nam/Unisex; Nữ chỉ phối với đồ Nữ/Unisex.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Thưởng đồng điệu hoàn cảnh: +0.15 điểm nếu cùng thuộc nhóm Casual, Formal hoặc Sports.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Giới hạn điểm số trong khoảng [0.50, 0.99] để hiển thị % độ tương thích trực quan trên Web.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09/12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8. Giao Diện Web Ứng Dụng Thực Tế (Live Demo)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Trải nghiệm trực quan hóa sản phẩm sẵn sàng triển khai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[FULL-STACK] Kiến Trúc Giao Diện Tách Bạch &amp; Linh Hoạt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Frontend: HTML5, CSS3 Glassmorphism, JavaScript thuần không phụ thuộc nặng nề.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Backend: Flask REST API tốc độ cao, xử lý đa luồng, hỗ trợ CORS.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Khởi chạy 1-Click: Nhấp đúp vào file start_web.bat là tự mở trình duyệt.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Hỗ trợ song song cả giao diện Streamlit qua tệp streamlit_app.py.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Minh bạch học thuật: Học viên báo cáo phần giao diện Web được phát triển nhanh với sự hỗ trợ của AI.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[FEATURES] Các Tính Năng Trực Quan Hóa Nổi Bật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1. Chọn nhanh từ kho mẫu: Trải nghiệm tức thì 1,200 sản phẩm thật từ Kaggle.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2. Tải ảnh cá nhân (Upload): Nhận diện và gợi ý phối đồ cho bất kỳ ảnh trang phục nào từ máy tính.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3. Chuyển đổi mô hình: So sánh trực tiếp kết quả giữa ResNet50 và Baseline Color Histogram.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4. Hiển thị thông minh: Xem trước ảnh món gốc bên trái và toàn bộ set đồ phối bù trừ bên phải với thanh đo % tương thích.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10/12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9. Đánh Giá Thực Nghiệm &amp; Kết Quả Benchmark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Số liệu chứng minh sự vượt trội tuyệt đối của Deep Learning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Chỉ số Đánh giá (Metrics)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Mô hình ResNet50 (Đề xuất)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Baseline Color Histogram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Mức độ Cải thiện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Top-5 Hit Rate (Độ phủ gợi ý)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93.5%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64.2%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+ 29.3% (Vượt trội)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Precision@5 (Độ chính xác)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87.2%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51.8%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+ 35.4% (Rất cao)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Thời gian trích xuất / ảnh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24.8 ms (GPU) / 85 ms (CPU)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4.2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Hoàn toàn Real-time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Thời gian tìm kiếm Cosine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0.85 ms (Toàn kho 1,200 mẫu)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0.32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10B981"/>
                          </a:solidFill>
                        </a:defRPr>
                      </a:pPr>
                      <a:r>
                        <a:t>Tức thì (&lt; 1ms)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206240"/>
            <a:ext cx="10728655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[INSIGHT] Phân tích Kết quả Thực nghiệm Định tính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Baseline màu sắc chỉ tìm các món cùng dải màu (áo xanh phối với quần xanh lá cây, gây lòe loẹt, lạc quẻ phong cách).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ResNet50 hiểu sâu về cấu trúc trang phục: Áo sơ mi nam công sở được phối chính xác với Quần tây âu đen, Giày tây Derby và Đồng hồ dây da sang trọng.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Áo thun polo dạo phố nữ được phối ăn ý với Quần jean ống suông cá tính và Giày sneakers trắng năng động.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11/12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10. Đóng Góp Cốt Lõi &amp; Tính Minh Bạch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Tổng kết giá trị đồ án và tinh thần trung thực học thuật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[CONTRIBUTION] Hoàn thành Xuất sắc Mục tiêu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Hoàn thành trọn vẹn yêu cầu Capstone của Samsung Innovation Campus.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Xây dựng thành công hệ thống gợi ý từ bài toán thực tế, dữ liệu thật đến ứng dụng Web hoàn chỉnh.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Hiểu sâu bản chất toán học của CNN, ResNet50, GAP và không gian vector.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[CLEAN CODE] Cấu trúc Thư mục Khoa học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Thư mục Model/: Chứa 3 file mã nguồn lõi do học viên trực tiếp xây dựng và làm chủ 100%.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Thư mục app_web/: Giao diện và API độc lập, dễ dàng bảo trì hoặc nâng cấp.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Thư mục Report_and_Readme/: Tài liệu hóa chuyên nghiệp, đồng bộ báo cáo và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[TRANSPARENCY] Minh bạch Sử dụng AI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Chủ động báo cáo trước hội đồng: Sử dụng AI hỗ trợ lập trình giao diện Web và biên soạn tài liệu.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Thể hiện kỹ năng khai thác công cụ AI hiện đại để gia tăng năng suất gấp 5-10 lần.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Cam kết làm chủ tuyệt đối phần thuật toán và lý thuyết học máy cốt lõi.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38BDF8"/>
                </a:solidFill>
              </a:defRPr>
            </a:pPr>
            <a:r>
              <a:t>SAMSUNG INNOVATION CAMPUS  |  ĐỒ ÁN TỐT NGHIỆP AI SIC  |  SLIDE 12/12</a:t>
            </a:r>
          </a:p>
          <a:p>
            <a:pPr>
              <a:spcAft>
                <a:spcPts val="200"/>
              </a:spcAft>
              <a:defRPr sz="2200" b="1">
                <a:solidFill>
                  <a:srgbClr val="F8FAFC"/>
                </a:solidFill>
              </a:defRPr>
            </a:pPr>
            <a:r>
              <a:t>11. Kết Luận &amp; Hướng Phát Triển Tương Lai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Lời kết và lộ trình nâng cấp hệ thống lên môi trường sản xuất quy mô lớn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[CONCLUSION] Kết luận Tổng kết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Hệ thống chứng minh tính khả thi và hiệu quả vượt bậc của Deep Learning trong thời trang.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Giải quyết triệt để hạn chế 'chỉ gợi ý đồ tương tự' của các sàn thương mại điện tử truyền thống.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Độ trễ suy luận tức thì (&lt; 30ms) mang lại trải nghiệm người dùng mượt mà, sẵn sàng triển khai thực tế.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Khẳng định kiến thức vững chắc thu nhận được từ khóa học AI SIC.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[FUTURE WORK] Lộ trình Phát triển Tương lai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1. Tối ưu tìm kiếm với FAISS / HNSW: Mở rộng kho sản phẩm lên 10 triệu items mà thời gian truy vấn vẫn dưới 5ms.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2. Tích hợp YOLOv8-Seg: Bóc tách nền trang phục tự động cho ảnh người dùng chụp ngoài đường phố.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3. Gợi ý theo ngữ cảnh thời tiết: Tích hợp OpenWeather API để tự động đề xuất đồ ấm khi trời lạnh, đồ thoáng mát khi trời nắng.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4. Virtual Try-On với Diffusion: Cho phép người dùng nhìn thấy chính mình mặc set đồ được gợi ý.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